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Pediatric Growth Monitoring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11480" y="22860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8BDD8"/>
                </a:solidFill>
              </a:rPr>
              <a:t>Signal vs. Noise — Error Taxonomy, Methods, and the</a:t>
            </a:r>
            <a:endParaRPr lang="en-US" sz="1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8BDD8"/>
                </a:solidFill>
              </a:rPr>
              <a:t>Challenge of Detecting Real Pathology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00D4C8"/>
                </a:solidFill>
              </a:rPr>
              <a:t>Uncertainty Quantification in Longitudinal Growth Data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D4C8"/>
                </a:solidFill>
              </a:rPr>
              <a:t>01 · WHY IT MATTERS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Stakes of Growth Monitoring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2286000"/>
          </a:xfrm>
          <a:prstGeom prst="rect">
            <a:avLst/>
          </a:prstGeom>
          <a:solidFill>
            <a:srgbClr val="0F2040"/>
          </a:solidFill>
          <a:ln w="6350">
            <a:solidFill>
              <a:srgbClr val="00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C8"/>
                </a:solidFill>
              </a:rPr>
              <a:t>~5%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8BDD8"/>
                </a:solidFill>
              </a:rPr>
              <a:t>of children worldwide affected by growth disorders, many undetected until late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606040" cy="2286000"/>
          </a:xfrm>
          <a:prstGeom prst="rect">
            <a:avLst/>
          </a:prstGeom>
          <a:solidFill>
            <a:srgbClr val="0F2040"/>
          </a:solidFill>
          <a:ln w="6350">
            <a:solidFill>
              <a:srgbClr val="00D4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5087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C8"/>
                </a:solidFill>
              </a:rPr>
              <a:t>2–3 yrs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29000" y="22860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8BDD8"/>
                </a:solidFill>
              </a:rPr>
              <a:t>average delay between onset of growth failure and clinical diagnosis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606040" cy="2286000"/>
          </a:xfrm>
          <a:prstGeom prst="rect">
            <a:avLst/>
          </a:prstGeom>
          <a:solidFill>
            <a:srgbClr val="0F2040"/>
          </a:solidFill>
          <a:ln w="6350">
            <a:solidFill>
              <a:srgbClr val="00D4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5087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C8"/>
                </a:solidFill>
              </a:rPr>
              <a:t>Early Rx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63640" y="22860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8BDD8"/>
                </a:solidFill>
              </a:rPr>
              <a:t>treatment initiated before age 4 yields 2–3× better outcomes vs. later intervention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8BDD8"/>
                </a:solidFill>
              </a:rPr>
              <a:t>Anthropometric data — height, weight, BMI — are the primary surveillance tool in primary care.
</a:t>
            </a:r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8BDD8"/>
                </a:solidFill>
              </a:rPr>
              <a:t>Routine measurements at well-child visits form the only longitudinal growth record for most children.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D4C8"/>
                </a:solidFill>
              </a:rPr>
              <a:t>02 · SIGNAL VS. NOISE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Core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840480" cy="3200400"/>
          </a:xfrm>
          <a:prstGeom prst="rect">
            <a:avLst/>
          </a:prstGeom>
          <a:solidFill>
            <a:srgbClr val="0F2040"/>
          </a:solidFill>
          <a:ln w="6350">
            <a:solidFill>
              <a:srgbClr val="00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C8"/>
                </a:solidFill>
              </a:rPr>
              <a:t>SIGNAL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Real Pathology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A8BDD8"/>
                </a:solidFill>
              </a:rPr>
              <a:t>Growth hormone deficiency</a:t>
            </a:r>
            <a:endParaRPr lang="en-US" sz="12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A8BDD8"/>
                </a:solidFill>
              </a:rPr>
              <a:t>Hypothyroidism</a:t>
            </a:r>
            <a:endParaRPr lang="en-US" sz="12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A8BDD8"/>
                </a:solidFill>
              </a:rPr>
              <a:t>Turner syndrome / genetic disorders</a:t>
            </a:r>
            <a:endParaRPr lang="en-US" sz="12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A8BDD8"/>
                </a:solidFill>
              </a:rPr>
              <a:t>Inflammatory bowel disease</a:t>
            </a:r>
            <a:endParaRPr lang="en-US" sz="12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A8BDD8"/>
                </a:solidFill>
              </a:rPr>
              <a:t>Psychosocial short stature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3200400"/>
          </a:xfrm>
          <a:prstGeom prst="rect">
            <a:avLst/>
          </a:prstGeom>
          <a:solidFill>
            <a:srgbClr val="0F2040"/>
          </a:solidFill>
          <a:ln w="6350">
            <a:solidFill>
              <a:srgbClr val="00D4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C8"/>
                </a:solidFill>
              </a:rPr>
              <a:t>NOISE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 Error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22860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A8BDD8"/>
                </a:solidFill>
              </a:rPr>
              <a:t>Transcription / digit typos</a:t>
            </a:r>
            <a:endParaRPr lang="en-US" sz="12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A8BDD8"/>
                </a:solidFill>
              </a:rPr>
              <a:t>Unit conversion errors (cm vs in)</a:t>
            </a:r>
            <a:endParaRPr lang="en-US" sz="12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A8BDD8"/>
                </a:solidFill>
              </a:rPr>
              <a:t>Swapped height &amp; weight fields</a:t>
            </a:r>
            <a:endParaRPr lang="en-US" sz="12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A8BDD8"/>
                </a:solidFill>
              </a:rPr>
              <a:t>Duplicate / carry-forward entries</a:t>
            </a:r>
            <a:endParaRPr lang="en-US" sz="1200" dirty="0"/>
          </a:p>
          <a:p>
            <a:pPr marL="127000" indent="-1270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A8BDD8"/>
                </a:solidFill>
              </a:rPr>
              <a:t>Instrument calibration drift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D4C8"/>
                </a:solidFill>
              </a:rPr>
              <a:t>Both produce abnormal-looking growth curves — they are often indistinguishable without additional context.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D4C8"/>
                </a:solidFill>
              </a:rPr>
              <a:t>03 · ERROR TAXONOMY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 Taxonomy of Data Errors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011680" cy="3474720"/>
          </a:xfrm>
          <a:prstGeom prst="rect">
            <a:avLst/>
          </a:prstGeom>
          <a:solidFill>
            <a:srgbClr val="0F2040"/>
          </a:solidFill>
          <a:ln w="6350">
            <a:solidFill>
              <a:srgbClr val="00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D4C8"/>
                </a:solidFill>
              </a:rPr>
              <a:t>⊗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18562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D4C8"/>
                </a:solidFill>
              </a:rPr>
              <a:t>MEASUREMENT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6928" y="2240280"/>
            <a:ext cx="1783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A8BDD8"/>
                </a:solidFill>
              </a:rPr>
              <a:t>Random instrument noise</a:t>
            </a:r>
            <a:endParaRPr lang="en-US" sz="1050" dirty="0"/>
          </a:p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A8BDD8"/>
                </a:solidFill>
              </a:rPr>
              <a:t>Systematic calibration bias</a:t>
            </a:r>
            <a:endParaRPr lang="en-US" sz="1050" dirty="0"/>
          </a:p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A8BDD8"/>
                </a:solidFill>
              </a:rPr>
              <a:t>Diurnal / positional variation</a:t>
            </a:r>
            <a:endParaRPr lang="en-US" sz="1050" dirty="0"/>
          </a:p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A8BDD8"/>
                </a:solidFill>
              </a:rPr>
              <a:t>Observer intra/inter variability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1325880"/>
            <a:ext cx="2011680" cy="3474720"/>
          </a:xfrm>
          <a:prstGeom prst="rect">
            <a:avLst/>
          </a:prstGeom>
          <a:solidFill>
            <a:srgbClr val="0F2040"/>
          </a:solidFill>
          <a:ln w="6350">
            <a:solidFill>
              <a:srgbClr val="00D4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417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D4C8"/>
                </a:solidFill>
              </a:rPr>
              <a:t>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15768" y="18562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D4C8"/>
                </a:solidFill>
              </a:rPr>
              <a:t>TRANSCRIPTION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15768" y="2240280"/>
            <a:ext cx="1783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A8BDD8"/>
                </a:solidFill>
              </a:rPr>
              <a:t>Digit transposition (e.g. 108→180)</a:t>
            </a:r>
            <a:endParaRPr lang="en-US" sz="1050" dirty="0"/>
          </a:p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A8BDD8"/>
                </a:solidFill>
              </a:rPr>
              <a:t>Unit errors (cm/in, kg/lb)</a:t>
            </a:r>
            <a:endParaRPr lang="en-US" sz="1050" dirty="0"/>
          </a:p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A8BDD8"/>
                </a:solidFill>
              </a:rPr>
              <a:t>Swapped height ↔ weight fields</a:t>
            </a:r>
            <a:endParaRPr lang="en-US" sz="1050" dirty="0"/>
          </a:p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A8BDD8"/>
                </a:solidFill>
              </a:rPr>
              <a:t>Missing decimal points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2011680" cy="3474720"/>
          </a:xfrm>
          <a:prstGeom prst="rect">
            <a:avLst/>
          </a:prstGeom>
          <a:solidFill>
            <a:srgbClr val="0F2040"/>
          </a:solidFill>
          <a:ln w="6350">
            <a:solidFill>
              <a:srgbClr val="00D4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17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D4C8"/>
                </a:solidFill>
              </a:rPr>
              <a:t>⊙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64608" y="18562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D4C8"/>
                </a:solidFill>
              </a:rPr>
              <a:t>TEMPORAL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64608" y="2240280"/>
            <a:ext cx="1783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A8BDD8"/>
                </a:solidFill>
              </a:rPr>
              <a:t>Carry-forward duplicates</a:t>
            </a:r>
            <a:endParaRPr lang="en-US" sz="1050" dirty="0"/>
          </a:p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A8BDD8"/>
                </a:solidFill>
              </a:rPr>
              <a:t>Wrong visit date</a:t>
            </a:r>
            <a:endParaRPr lang="en-US" sz="1050" dirty="0"/>
          </a:p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A8BDD8"/>
                </a:solidFill>
              </a:rPr>
              <a:t>Age miscalculation</a:t>
            </a:r>
            <a:endParaRPr lang="en-US" sz="1050" dirty="0"/>
          </a:p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A8BDD8"/>
                </a:solidFill>
              </a:rPr>
              <a:t>Non-contemporaneous entries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03720" y="1325880"/>
            <a:ext cx="2011680" cy="3474720"/>
          </a:xfrm>
          <a:prstGeom prst="rect">
            <a:avLst/>
          </a:prstGeom>
          <a:solidFill>
            <a:srgbClr val="0F2040"/>
          </a:solidFill>
          <a:ln w="6350">
            <a:solidFill>
              <a:srgbClr val="00D4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1417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D4C8"/>
                </a:solidFill>
              </a:rPr>
              <a:t>⊛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13448" y="18562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D4C8"/>
                </a:solidFill>
              </a:rPr>
              <a:t>INLIER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13448" y="2240280"/>
            <a:ext cx="1783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A8BDD8"/>
                </a:solidFill>
              </a:rPr>
              <a:t>Within-normal-range errors</a:t>
            </a:r>
            <a:endParaRPr lang="en-US" sz="1050" dirty="0"/>
          </a:p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A8BDD8"/>
                </a:solidFill>
              </a:rPr>
              <a:t>Invisible to cross-sectional rules</a:t>
            </a:r>
            <a:endParaRPr lang="en-US" sz="1050" dirty="0"/>
          </a:p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A8BDD8"/>
                </a:solidFill>
              </a:rPr>
              <a:t>Only detectable longitudinally</a:t>
            </a:r>
            <a:endParaRPr lang="en-US" sz="1050" dirty="0"/>
          </a:p>
          <a:p>
            <a:pPr marL="101600" indent="-1016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A8BDD8"/>
                </a:solidFill>
              </a:rPr>
              <a:t>Most clinically dangerous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D4C8"/>
                </a:solidFill>
              </a:rPr>
              <a:t>04 · SOLUTION TAXONOMY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Methods for Error Detection &amp; Growth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444752"/>
            <a:ext cx="164592" cy="164592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5" name="Shape 3"/>
          <p:cNvSpPr/>
          <p:nvPr/>
        </p:nvSpPr>
        <p:spPr>
          <a:xfrm>
            <a:off x="489204" y="1609344"/>
            <a:ext cx="0" cy="420624"/>
          </a:xfrm>
          <a:prstGeom prst="line">
            <a:avLst/>
          </a:prstGeom>
          <a:noFill/>
          <a:ln w="12700">
            <a:solidFill>
              <a:srgbClr val="00D4C8"/>
            </a:solidFill>
            <a:prstDash val="sysDash"/>
          </a:ln>
        </p:spPr>
      </p:sp>
      <p:sp>
        <p:nvSpPr>
          <p:cNvPr id="6" name="Shape 4"/>
          <p:cNvSpPr/>
          <p:nvPr/>
        </p:nvSpPr>
        <p:spPr>
          <a:xfrm>
            <a:off x="685800" y="1280160"/>
            <a:ext cx="8001000" cy="658368"/>
          </a:xfrm>
          <a:prstGeom prst="rect">
            <a:avLst/>
          </a:prstGeom>
          <a:solidFill>
            <a:srgbClr val="0F2040"/>
          </a:solidFill>
          <a:ln w="6350">
            <a:solidFill>
              <a:srgbClr val="00D4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5331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C8"/>
                </a:solidFill>
              </a:rPr>
              <a:t>Cross-Sectional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33502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8"/>
                </a:solidFill>
              </a:rPr>
              <a:t>WHO/CDC z-score cutoffs (BIV flags). Age-sex normalized. Simple, universal.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35040" y="131673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DD8A0"/>
                </a:solidFill>
              </a:rPr>
              <a:t>✓ Easy to implement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0" y="160934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8080"/>
                </a:solidFill>
              </a:rPr>
              <a:t>✗ Misses inlier errors; flags true outliers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2194560"/>
            <a:ext cx="164592" cy="164592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" y="2359152"/>
            <a:ext cx="0" cy="420624"/>
          </a:xfrm>
          <a:prstGeom prst="line">
            <a:avLst/>
          </a:prstGeom>
          <a:noFill/>
          <a:ln w="12700">
            <a:solidFill>
              <a:srgbClr val="00D4C8"/>
            </a:solidFill>
            <a:prstDash val="sysDash"/>
          </a:ln>
        </p:spPr>
      </p:sp>
      <p:sp>
        <p:nvSpPr>
          <p:cNvPr id="13" name="Shape 11"/>
          <p:cNvSpPr/>
          <p:nvPr/>
        </p:nvSpPr>
        <p:spPr>
          <a:xfrm>
            <a:off x="685800" y="2029968"/>
            <a:ext cx="8001000" cy="658368"/>
          </a:xfrm>
          <a:prstGeom prst="rect">
            <a:avLst/>
          </a:prstGeom>
          <a:solidFill>
            <a:srgbClr val="0F2040"/>
          </a:solidFill>
          <a:ln w="6350">
            <a:solidFill>
              <a:srgbClr val="00D4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10312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C8"/>
                </a:solidFill>
              </a:rPr>
              <a:t>Longitudinal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08483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8"/>
                </a:solidFill>
              </a:rPr>
              <a:t>EWMA trajectories (growthcleanr), jackknife residuals, conditional percentiles.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35040" y="206654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DD8A0"/>
                </a:solidFill>
              </a:rPr>
              <a:t>✓ 97% sensitivity (growthcleanr)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035040" y="23591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8080"/>
                </a:solidFill>
              </a:rPr>
              <a:t>✗ Needs ≥3–4 visits; computationally heavier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944368"/>
            <a:ext cx="164592" cy="164592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" y="3108960"/>
            <a:ext cx="0" cy="420624"/>
          </a:xfrm>
          <a:prstGeom prst="line">
            <a:avLst/>
          </a:prstGeom>
          <a:noFill/>
          <a:ln w="12700">
            <a:solidFill>
              <a:srgbClr val="00D4C8"/>
            </a:solidFill>
            <a:prstDash val="sysDash"/>
          </a:ln>
        </p:spPr>
      </p:sp>
      <p:sp>
        <p:nvSpPr>
          <p:cNvPr id="20" name="Shape 18"/>
          <p:cNvSpPr/>
          <p:nvPr/>
        </p:nvSpPr>
        <p:spPr>
          <a:xfrm>
            <a:off x="685800" y="2779776"/>
            <a:ext cx="8001000" cy="658368"/>
          </a:xfrm>
          <a:prstGeom prst="rect">
            <a:avLst/>
          </a:prstGeom>
          <a:solidFill>
            <a:srgbClr val="0F2040"/>
          </a:solidFill>
          <a:ln w="6350">
            <a:solidFill>
              <a:srgbClr val="00D4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285292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C8"/>
                </a:solidFill>
              </a:rPr>
              <a:t>Bayesian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28346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8"/>
                </a:solidFill>
              </a:rPr>
              <a:t>Hierarchical priors on growth parameters; error-in-variables models; formal UQ.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35040" y="28163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DD8A0"/>
                </a:solidFill>
              </a:rPr>
              <a:t>✓ Principled uncertainty propagation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035040" y="31089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8080"/>
                </a:solidFill>
              </a:rPr>
              <a:t>✗ Few validated implementations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3694176"/>
            <a:ext cx="164592" cy="164592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6" name="Shape 24"/>
          <p:cNvSpPr/>
          <p:nvPr/>
        </p:nvSpPr>
        <p:spPr>
          <a:xfrm>
            <a:off x="489204" y="3858768"/>
            <a:ext cx="0" cy="420624"/>
          </a:xfrm>
          <a:prstGeom prst="line">
            <a:avLst/>
          </a:prstGeom>
          <a:noFill/>
          <a:ln w="12700">
            <a:solidFill>
              <a:srgbClr val="00D4C8"/>
            </a:solidFill>
            <a:prstDash val="sysDash"/>
          </a:ln>
        </p:spPr>
      </p:sp>
      <p:sp>
        <p:nvSpPr>
          <p:cNvPr id="27" name="Shape 25"/>
          <p:cNvSpPr/>
          <p:nvPr/>
        </p:nvSpPr>
        <p:spPr>
          <a:xfrm>
            <a:off x="685800" y="3529584"/>
            <a:ext cx="8001000" cy="658368"/>
          </a:xfrm>
          <a:prstGeom prst="rect">
            <a:avLst/>
          </a:prstGeom>
          <a:solidFill>
            <a:srgbClr val="0F2040"/>
          </a:solidFill>
          <a:ln w="6350">
            <a:solidFill>
              <a:srgbClr val="00D4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360273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C8"/>
                </a:solidFill>
              </a:rPr>
              <a:t>ML / Anomaly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68880" y="358444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8"/>
                </a:solidFill>
              </a:rPr>
              <a:t>Isolation forests, clustering, trajectory outlier detection (Massara 2023).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35040" y="3566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DD8A0"/>
                </a:solidFill>
              </a:rPr>
              <a:t>✓ Discovers non-obvious patterns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035040" y="38587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8080"/>
                </a:solidFill>
              </a:rPr>
              <a:t>✗ Black-box; requires training data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11480" y="4443984"/>
            <a:ext cx="164592" cy="164592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4279392"/>
            <a:ext cx="8001000" cy="658368"/>
          </a:xfrm>
          <a:prstGeom prst="rect">
            <a:avLst/>
          </a:prstGeom>
          <a:solidFill>
            <a:srgbClr val="0F2040"/>
          </a:solidFill>
          <a:ln w="6350">
            <a:solidFill>
              <a:srgbClr val="00D4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435254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C8"/>
                </a:solidFill>
              </a:rPr>
              <a:t>Functional Data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468880" y="433425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8"/>
                </a:solidFill>
              </a:rPr>
              <a:t>Spline / SITAR models; LMS charts; smooth individual growth curves.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35040" y="43159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DD8A0"/>
                </a:solidFill>
              </a:rPr>
              <a:t>✓ Continuous trajectory output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035040" y="46085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8080"/>
                </a:solidFill>
              </a:rPr>
              <a:t>✗ Sensitive to outliers without robust fitting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D4C8"/>
                </a:solidFill>
              </a:rPr>
              <a:t>05 · THE GOLD STANDARD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Ground Truth Is Fundamentally Unattainable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097280"/>
          </a:xfrm>
          <a:prstGeom prst="rect">
            <a:avLst/>
          </a:prstGeom>
          <a:solidFill>
            <a:srgbClr val="0F2040"/>
          </a:solidFill>
          <a:ln w="6350">
            <a:solidFill>
              <a:srgbClr val="00D4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73152" cy="109728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389888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i="1" dirty="0">
                <a:solidFill>
                  <a:srgbClr val="A8BDD8"/>
                </a:solidFill>
              </a:rPr>
              <a:t>Clinicians face the same signal-vs-noise problem as algorithms.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i="1" dirty="0">
                <a:solidFill>
                  <a:srgbClr val="A8BDD8"/>
                </a:solidFill>
              </a:rPr>
              <a:t>A human expert reviewing a suspicious growth curve cannot determine whether an anomaly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i="1" dirty="0">
                <a:solidFill>
                  <a:srgbClr val="A8BDD8"/>
                </a:solidFill>
              </a:rPr>
              <a:t>is pathology or data error without independent re-measurement — which is rarely available.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201168" cy="201168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2606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Re-measurement Standard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8096" y="28803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BDD8"/>
                </a:solidFill>
              </a:rPr>
              <a:t>EHR data is recorded once. The "true" value is almost never known retroactively, making expert annotation of errors circular.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201168" cy="201168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3383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Simulation Has Inherent Bias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8096" y="3657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BDD8"/>
                </a:solidFill>
              </a:rPr>
              <a:t>Injected errors are modeled after known error types — but novel error patterns remain unrepresented, inflating reported sensitivity.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251960"/>
            <a:ext cx="201168" cy="201168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4160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Expert Disagreement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" y="4434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BDD8"/>
                </a:solidFill>
              </a:rPr>
              <a:t>Studies show significant inter-rater variability when clinicians label growth trajectories as erroneous vs. pathological (e.g. Daymont et al.).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400" kern="0" dirty="0">
                <a:solidFill>
                  <a:srgbClr val="00D4C8"/>
                </a:solidFill>
              </a:rPr>
              <a:t>06 · IMPLICATIONS &amp; FUTURE DIRECTIONS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Toward Error-Robust Early Detection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508760"/>
          </a:xfrm>
          <a:prstGeom prst="rect">
            <a:avLst/>
          </a:prstGeom>
          <a:solidFill>
            <a:srgbClr val="0F2040"/>
          </a:solidFill>
          <a:ln w="6350">
            <a:solidFill>
              <a:srgbClr val="00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81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C8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463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Error-Tolerant Algorithms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" y="1901952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BDD8"/>
                </a:solidFill>
              </a:rPr>
              <a:t>Design models that explicitly account for data quality — e.g. Bayesian error-in-variables frameworks that propagate measurement uncertainty rather than requiring clean input.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371600"/>
            <a:ext cx="4114800" cy="1508760"/>
          </a:xfrm>
          <a:prstGeom prst="rect">
            <a:avLst/>
          </a:prstGeom>
          <a:solidFill>
            <a:srgbClr val="0F2040"/>
          </a:solidFill>
          <a:ln w="6350">
            <a:solidFill>
              <a:srgbClr val="00D4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65192" y="14813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C8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0" y="1463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Dual-Objective Training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65192" y="1901952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BDD8"/>
                </a:solidFill>
              </a:rPr>
              <a:t>Train models to jointly detect pathological growth deviation AND flag probable data errors — treating both as structured inference rather than sequential filtering.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114800" cy="1508760"/>
          </a:xfrm>
          <a:prstGeom prst="rect">
            <a:avLst/>
          </a:prstGeom>
          <a:solidFill>
            <a:srgbClr val="0F2040"/>
          </a:solidFill>
          <a:ln w="6350">
            <a:solidFill>
              <a:srgbClr val="00D4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1729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C8"/>
                </a:solidFill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3154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Uncertainty as Output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1792" y="3593592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BDD8"/>
                </a:solidFill>
              </a:rPr>
              <a:t>Shift from binary clean/error labels to probabilistic classifications that surface confidence — enabling clinicians to prioritize manual review of ambiguous cases.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3063240"/>
            <a:ext cx="4114800" cy="1508760"/>
          </a:xfrm>
          <a:prstGeom prst="rect">
            <a:avLst/>
          </a:prstGeom>
          <a:solidFill>
            <a:srgbClr val="0F2040"/>
          </a:solidFill>
          <a:ln w="6350">
            <a:solidFill>
              <a:srgbClr val="00D4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5192" y="31729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C8"/>
                </a:solidFill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0" y="3154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Multi-Source Corroboration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65192" y="3593592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8BDD8"/>
                </a:solidFill>
              </a:rPr>
              <a:t>Integrate auxiliary signals (labs, diagnoses, medication records) to disambiguate signal from noise when anthropometric data alone is insufficient.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D4C8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4173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0D4C8"/>
                </a:solidFill>
              </a:rPr>
              <a:t>01 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8BDD8"/>
                </a:solidFill>
              </a:rPr>
              <a:t>Growth monitoring is the first line of defense against pediatric endocrine and nutritional disorders — delays in detection have long-term consequences.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2112264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0D4C8"/>
                </a:solidFill>
              </a:rPr>
              <a:t>02 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8BDD8"/>
                </a:solidFill>
              </a:rPr>
              <a:t>The signal-vs-noise problem is not a solvable data-cleaning task; it is a fundamental epistemological challenge, since noise can perfectly mimic pathology.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11480" y="280720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0D4C8"/>
                </a:solidFill>
              </a:rPr>
              <a:t>03 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8BDD8"/>
                </a:solidFill>
              </a:rPr>
              <a:t>Current methods (WHO flags, EWMA, ML) exist on a spectrum; none achieves both high sensitivity AND specificity for subtle inlier errors.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350215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0D4C8"/>
                </a:solidFill>
              </a:rPr>
              <a:t>04 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8BDD8"/>
                </a:solidFill>
              </a:rPr>
              <a:t>No true gold standard can be constructed from EHR data — even expert review is circular when the ground truth measurement no longer exists.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4197096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0D4C8"/>
                </a:solidFill>
              </a:rPr>
              <a:t>05 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8BDD8"/>
                </a:solidFill>
              </a:rPr>
              <a:t>The path forward is error-tolerant, uncertainty-aware algorithms that surface ambiguity rather than masking it — supporting clinical judgment rather than replacing it.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Uncertainty in Pediatric Growth Monitoring</dc:title>
  <dc:subject>PptxGenJS Presentation</dc:subject>
  <dc:creator>PptxGenJS</dc:creator>
  <cp:lastModifiedBy>PptxGenJS</cp:lastModifiedBy>
  <cp:revision>1</cp:revision>
  <dcterms:created xsi:type="dcterms:W3CDTF">2026-05-15T13:48:00Z</dcterms:created>
  <dcterms:modified xsi:type="dcterms:W3CDTF">2026-05-15T13:48:00Z</dcterms:modified>
</cp:coreProperties>
</file>